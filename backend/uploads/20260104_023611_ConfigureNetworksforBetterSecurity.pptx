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HK Grotesk Medium" charset="1" panose="00000600000000000000"/>
      <p:regular r:id="rId9"/>
    </p:embeddedFont>
    <p:embeddedFont>
      <p:font typeface="HK Grotesk Bold" charset="1" panose="00000800000000000000"/>
      <p:regular r:id="rId10"/>
    </p:embeddedFont>
    <p:embeddedFont>
      <p:font typeface="HK Grotesk" charset="1" panose="000005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66A7"/>
        </a:solidFill>
      </p:bgPr>
    </p:bg>
    <p:spTree>
      <p:nvGrpSpPr>
        <p:cNvPr id="1" name=""/>
        <p:cNvGrpSpPr/>
        <p:nvPr/>
      </p:nvGrpSpPr>
      <p:grpSpPr>
        <a:xfrm>
          <a:off x="0" y="0"/>
          <a:ext cx="0" cy="0"/>
          <a:chOff x="0" y="0"/>
          <a:chExt cx="0" cy="0"/>
        </a:xfrm>
      </p:grpSpPr>
      <p:sp>
        <p:nvSpPr>
          <p:cNvPr name="TextBox 2" id="2"/>
          <p:cNvSpPr txBox="true"/>
          <p:nvPr/>
        </p:nvSpPr>
        <p:spPr>
          <a:xfrm rot="0">
            <a:off x="195943" y="1659334"/>
            <a:ext cx="17896114" cy="8105775"/>
          </a:xfrm>
          <a:prstGeom prst="rect">
            <a:avLst/>
          </a:prstGeom>
        </p:spPr>
        <p:txBody>
          <a:bodyPr anchor="t" rtlCol="false" tIns="0" lIns="0" bIns="0" rIns="0">
            <a:spAutoFit/>
          </a:bodyPr>
          <a:lstStyle/>
          <a:p>
            <a:pPr algn="l">
              <a:lnSpc>
                <a:spcPts val="2817"/>
              </a:lnSpc>
            </a:pPr>
            <a:r>
              <a:rPr lang="en-US" sz="2347">
                <a:solidFill>
                  <a:srgbClr val="F4F6FC"/>
                </a:solidFill>
                <a:latin typeface="HK Grotesk Medium"/>
                <a:ea typeface="HK Grotesk Medium"/>
                <a:cs typeface="HK Grotesk Medium"/>
                <a:sym typeface="HK Grotesk Medium"/>
              </a:rPr>
              <a:t>Securing a wireless network is essential to protect sensitive data and prevent unauthorized access. Here’s a detailed guide on how to configure wireless security settings effectively.</a:t>
            </a:r>
          </a:p>
          <a:p>
            <a:pPr algn="l">
              <a:lnSpc>
                <a:spcPts val="2817"/>
              </a:lnSpc>
            </a:pPr>
          </a:p>
          <a:p>
            <a:pPr algn="l">
              <a:lnSpc>
                <a:spcPts val="2817"/>
              </a:lnSpc>
            </a:pPr>
            <a:r>
              <a:rPr lang="en-US" sz="2347">
                <a:solidFill>
                  <a:srgbClr val="F4F6FC"/>
                </a:solidFill>
                <a:latin typeface="HK Grotesk Medium"/>
                <a:ea typeface="HK Grotesk Medium"/>
                <a:cs typeface="HK Grotesk Medium"/>
                <a:sym typeface="HK Grotesk Medium"/>
              </a:rPr>
              <a:t>1. Change Default SSID and Password</a:t>
            </a:r>
          </a:p>
          <a:p>
            <a:pPr algn="l">
              <a:lnSpc>
                <a:spcPts val="2817"/>
              </a:lnSpc>
            </a:pP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SSID: The Service Set Identifier (SSID) is the name of your Wi-Fi network. Change it from the default to something unique but avoid using personal information.</a:t>
            </a: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Password: Use a strong password with a mix of letters, numbers, and special characters. Avoid common phrases or easily guessable information.</a:t>
            </a:r>
          </a:p>
          <a:p>
            <a:pPr algn="l">
              <a:lnSpc>
                <a:spcPts val="2817"/>
              </a:lnSpc>
            </a:pPr>
          </a:p>
          <a:p>
            <a:pPr algn="l">
              <a:lnSpc>
                <a:spcPts val="2817"/>
              </a:lnSpc>
            </a:pPr>
            <a:r>
              <a:rPr lang="en-US" sz="2347">
                <a:solidFill>
                  <a:srgbClr val="F4F6FC"/>
                </a:solidFill>
                <a:latin typeface="HK Grotesk Medium"/>
                <a:ea typeface="HK Grotesk Medium"/>
                <a:cs typeface="HK Grotesk Medium"/>
                <a:sym typeface="HK Grotesk Medium"/>
              </a:rPr>
              <a:t>2. Enable WPA3 Encryption</a:t>
            </a:r>
          </a:p>
          <a:p>
            <a:pPr algn="l">
              <a:lnSpc>
                <a:spcPts val="2817"/>
              </a:lnSpc>
            </a:pP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Encryption Protocol: Use WPA3 (Wi-Fi Protected Access 3), the latest and most secure encryption protocol. If your router doesn’t support WPA3, WPA2 is the next best option. Avoid WEP and WPA, as they are outdated and vulnerable.</a:t>
            </a: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How to Set: Navigate to the wireless security settings on your router’s admin page and select WPA3 or WPA2 under the security options.</a:t>
            </a:r>
          </a:p>
          <a:p>
            <a:pPr algn="l">
              <a:lnSpc>
                <a:spcPts val="2817"/>
              </a:lnSpc>
            </a:pPr>
          </a:p>
          <a:p>
            <a:pPr algn="l">
              <a:lnSpc>
                <a:spcPts val="2817"/>
              </a:lnSpc>
            </a:pPr>
            <a:r>
              <a:rPr lang="en-US" sz="2347">
                <a:solidFill>
                  <a:srgbClr val="F4F6FC"/>
                </a:solidFill>
                <a:latin typeface="HK Grotesk Medium"/>
                <a:ea typeface="HK Grotesk Medium"/>
                <a:cs typeface="HK Grotesk Medium"/>
                <a:sym typeface="HK Grotesk Medium"/>
              </a:rPr>
              <a:t>3. Disable WPS (Wi-Fi Protected Setup)</a:t>
            </a:r>
          </a:p>
          <a:p>
            <a:pPr algn="l">
              <a:lnSpc>
                <a:spcPts val="2817"/>
              </a:lnSpc>
            </a:pP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Why: WPS is known for its vulnerabilities and can be exploited by attackers to gain access to your network.</a:t>
            </a:r>
          </a:p>
          <a:p>
            <a:pPr algn="l" marL="506846" indent="-253423" lvl="1">
              <a:lnSpc>
                <a:spcPts val="2817"/>
              </a:lnSpc>
              <a:buFont typeface="Arial"/>
              <a:buChar char="•"/>
            </a:pPr>
            <a:r>
              <a:rPr lang="en-US" sz="2347">
                <a:solidFill>
                  <a:srgbClr val="F4F6FC"/>
                </a:solidFill>
                <a:latin typeface="HK Grotesk Medium"/>
                <a:ea typeface="HK Grotesk Medium"/>
                <a:cs typeface="HK Grotesk Medium"/>
                <a:sym typeface="HK Grotesk Medium"/>
              </a:rPr>
              <a:t>How to Disable: Find the WPS settings on your router’s admin page and disable it.</a:t>
            </a:r>
          </a:p>
          <a:p>
            <a:pPr algn="l">
              <a:lnSpc>
                <a:spcPts val="2817"/>
              </a:lnSpc>
            </a:pPr>
          </a:p>
          <a:p>
            <a:pPr algn="l">
              <a:lnSpc>
                <a:spcPts val="2817"/>
              </a:lnSpc>
            </a:pPr>
          </a:p>
        </p:txBody>
      </p:sp>
      <p:sp>
        <p:nvSpPr>
          <p:cNvPr name="Freeform 3" id="3"/>
          <p:cNvSpPr/>
          <p:nvPr/>
        </p:nvSpPr>
        <p:spPr>
          <a:xfrm flipH="false" flipV="false" rot="0">
            <a:off x="15146890" y="6911627"/>
            <a:ext cx="2752741" cy="3228161"/>
          </a:xfrm>
          <a:custGeom>
            <a:avLst/>
            <a:gdLst/>
            <a:ahLst/>
            <a:cxnLst/>
            <a:rect r="r" b="b" t="t" l="l"/>
            <a:pathLst>
              <a:path h="3228161" w="2752741">
                <a:moveTo>
                  <a:pt x="0" y="0"/>
                </a:moveTo>
                <a:lnTo>
                  <a:pt x="2752741" y="0"/>
                </a:lnTo>
                <a:lnTo>
                  <a:pt x="2752741" y="3228161"/>
                </a:lnTo>
                <a:lnTo>
                  <a:pt x="0" y="32281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2057" y="666750"/>
            <a:ext cx="17760000" cy="514350"/>
          </a:xfrm>
          <a:prstGeom prst="rect">
            <a:avLst/>
          </a:prstGeom>
        </p:spPr>
        <p:txBody>
          <a:bodyPr anchor="t" rtlCol="false" tIns="0" lIns="0" bIns="0" rIns="0">
            <a:spAutoFit/>
          </a:bodyPr>
          <a:lstStyle/>
          <a:p>
            <a:pPr algn="l">
              <a:lnSpc>
                <a:spcPts val="4099"/>
              </a:lnSpc>
            </a:pPr>
            <a:r>
              <a:rPr lang="en-US" sz="3416">
                <a:solidFill>
                  <a:srgbClr val="F4F6FC"/>
                </a:solidFill>
                <a:latin typeface="HK Grotesk Bold"/>
                <a:ea typeface="HK Grotesk Bold"/>
                <a:cs typeface="HK Grotesk Bold"/>
                <a:sym typeface="HK Grotesk Bold"/>
              </a:rPr>
              <a:t>Configuring Wireless Security Settings to Secure Your Network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366A7"/>
        </a:solidFill>
      </p:bgPr>
    </p:bg>
    <p:spTree>
      <p:nvGrpSpPr>
        <p:cNvPr id="1" name=""/>
        <p:cNvGrpSpPr/>
        <p:nvPr/>
      </p:nvGrpSpPr>
      <p:grpSpPr>
        <a:xfrm>
          <a:off x="0" y="0"/>
          <a:ext cx="0" cy="0"/>
          <a:chOff x="0" y="0"/>
          <a:chExt cx="0" cy="0"/>
        </a:xfrm>
      </p:grpSpPr>
      <p:sp>
        <p:nvSpPr>
          <p:cNvPr name="Freeform 2" id="2"/>
          <p:cNvSpPr/>
          <p:nvPr/>
        </p:nvSpPr>
        <p:spPr>
          <a:xfrm flipH="false" flipV="false" rot="0">
            <a:off x="12600044" y="2013517"/>
            <a:ext cx="7139178" cy="8229600"/>
          </a:xfrm>
          <a:custGeom>
            <a:avLst/>
            <a:gdLst/>
            <a:ahLst/>
            <a:cxnLst/>
            <a:rect r="r" b="b" t="t" l="l"/>
            <a:pathLst>
              <a:path h="8229600" w="7139178">
                <a:moveTo>
                  <a:pt x="0" y="0"/>
                </a:moveTo>
                <a:lnTo>
                  <a:pt x="7139178" y="0"/>
                </a:lnTo>
                <a:lnTo>
                  <a:pt x="7139178" y="8229600"/>
                </a:lnTo>
                <a:lnTo>
                  <a:pt x="0" y="8229600"/>
                </a:lnTo>
                <a:lnTo>
                  <a:pt x="0" y="0"/>
                </a:lnTo>
                <a:close/>
              </a:path>
            </a:pathLst>
          </a:custGeom>
          <a:blipFill>
            <a:blip r:embed="rId2">
              <a:alphaModFix amt="47000"/>
            </a:blip>
            <a:stretch>
              <a:fillRect l="0" t="0" r="0" b="0"/>
            </a:stretch>
          </a:blipFill>
        </p:spPr>
      </p:sp>
      <p:sp>
        <p:nvSpPr>
          <p:cNvPr name="TextBox 3" id="3"/>
          <p:cNvSpPr txBox="true"/>
          <p:nvPr/>
        </p:nvSpPr>
        <p:spPr>
          <a:xfrm rot="0">
            <a:off x="146957" y="506186"/>
            <a:ext cx="18141043" cy="9026623"/>
          </a:xfrm>
          <a:prstGeom prst="rect">
            <a:avLst/>
          </a:prstGeom>
        </p:spPr>
        <p:txBody>
          <a:bodyPr anchor="t" rtlCol="false" tIns="0" lIns="0" bIns="0" rIns="0">
            <a:spAutoFit/>
          </a:bodyPr>
          <a:lstStyle/>
          <a:p>
            <a:pPr algn="l">
              <a:lnSpc>
                <a:spcPts val="3628"/>
              </a:lnSpc>
              <a:spcBef>
                <a:spcPct val="0"/>
              </a:spcBef>
            </a:pPr>
            <a:r>
              <a:rPr lang="en-US" sz="3023">
                <a:solidFill>
                  <a:srgbClr val="FFFFFF"/>
                </a:solidFill>
                <a:latin typeface="HK Grotesk"/>
                <a:ea typeface="HK Grotesk"/>
                <a:cs typeface="HK Grotesk"/>
                <a:sym typeface="HK Grotesk"/>
              </a:rPr>
              <a:t>4. Use a Guest Network</a:t>
            </a:r>
          </a:p>
          <a:p>
            <a:pPr algn="l">
              <a:lnSpc>
                <a:spcPts val="3628"/>
              </a:lnSpc>
              <a:spcBef>
                <a:spcPct val="0"/>
              </a:spcBef>
            </a:pPr>
          </a:p>
          <a:p>
            <a:pPr algn="l">
              <a:lnSpc>
                <a:spcPts val="3628"/>
              </a:lnSpc>
              <a:spcBef>
                <a:spcPct val="0"/>
              </a:spcBef>
            </a:pPr>
            <a:r>
              <a:rPr lang="en-US" sz="3023">
                <a:solidFill>
                  <a:srgbClr val="FFFFFF"/>
                </a:solidFill>
                <a:latin typeface="HK Grotesk"/>
                <a:ea typeface="HK Grotesk"/>
                <a:cs typeface="HK Grotesk"/>
                <a:sym typeface="HK Grotesk"/>
              </a:rPr>
              <a:t>Purpose: Isolate guest devices from your main network to limit access to sensitive information.</a:t>
            </a:r>
          </a:p>
          <a:p>
            <a:pPr algn="l">
              <a:lnSpc>
                <a:spcPts val="3628"/>
              </a:lnSpc>
              <a:spcBef>
                <a:spcPct val="0"/>
              </a:spcBef>
            </a:pPr>
            <a:r>
              <a:rPr lang="en-US" sz="3023">
                <a:solidFill>
                  <a:srgbClr val="FFFFFF"/>
                </a:solidFill>
                <a:latin typeface="HK Grotesk"/>
                <a:ea typeface="HK Grotesk"/>
                <a:cs typeface="HK Grotesk"/>
                <a:sym typeface="HK Grotesk"/>
              </a:rPr>
              <a:t>Configuration: Enable the guest network feature and set a different SSID and strong password for it. Ensure that guests cannot access your main network.</a:t>
            </a:r>
          </a:p>
          <a:p>
            <a:pPr algn="l">
              <a:lnSpc>
                <a:spcPts val="3628"/>
              </a:lnSpc>
              <a:spcBef>
                <a:spcPct val="0"/>
              </a:spcBef>
            </a:pPr>
          </a:p>
          <a:p>
            <a:pPr algn="l">
              <a:lnSpc>
                <a:spcPts val="3628"/>
              </a:lnSpc>
              <a:spcBef>
                <a:spcPct val="0"/>
              </a:spcBef>
            </a:pPr>
            <a:r>
              <a:rPr lang="en-US" sz="3023">
                <a:solidFill>
                  <a:srgbClr val="FFFFFF"/>
                </a:solidFill>
                <a:latin typeface="HK Grotesk"/>
                <a:ea typeface="HK Grotesk"/>
                <a:cs typeface="HK Grotesk"/>
                <a:sym typeface="HK Grotesk"/>
              </a:rPr>
              <a:t>5. Enable MAC Address Filtering</a:t>
            </a:r>
          </a:p>
          <a:p>
            <a:pPr algn="l">
              <a:lnSpc>
                <a:spcPts val="3628"/>
              </a:lnSpc>
              <a:spcBef>
                <a:spcPct val="0"/>
              </a:spcBef>
            </a:pPr>
          </a:p>
          <a:p>
            <a:pPr algn="l">
              <a:lnSpc>
                <a:spcPts val="3628"/>
              </a:lnSpc>
              <a:spcBef>
                <a:spcPct val="0"/>
              </a:spcBef>
            </a:pPr>
            <a:r>
              <a:rPr lang="en-US" sz="3023">
                <a:solidFill>
                  <a:srgbClr val="FFFFFF"/>
                </a:solidFill>
                <a:latin typeface="HK Grotesk"/>
                <a:ea typeface="HK Grotesk"/>
                <a:cs typeface="HK Grotesk"/>
                <a:sym typeface="HK Grotesk"/>
              </a:rPr>
              <a:t>MAC Filtering: Allows only specific devices to connect to your network by adding their MAC addresses to a whitelist.</a:t>
            </a:r>
          </a:p>
          <a:p>
            <a:pPr algn="l">
              <a:lnSpc>
                <a:spcPts val="3628"/>
              </a:lnSpc>
              <a:spcBef>
                <a:spcPct val="0"/>
              </a:spcBef>
            </a:pPr>
            <a:r>
              <a:rPr lang="en-US" sz="3023">
                <a:solidFill>
                  <a:srgbClr val="FFFFFF"/>
                </a:solidFill>
                <a:latin typeface="HK Grotesk"/>
                <a:ea typeface="HK Grotesk"/>
                <a:cs typeface="HK Grotesk"/>
                <a:sym typeface="HK Grotesk"/>
              </a:rPr>
              <a:t>How to Configure: Find the MAC filtering option in your router settings, enable it, and add the MAC addresses of your trusted devices.</a:t>
            </a:r>
          </a:p>
          <a:p>
            <a:pPr algn="l">
              <a:lnSpc>
                <a:spcPts val="3628"/>
              </a:lnSpc>
              <a:spcBef>
                <a:spcPct val="0"/>
              </a:spcBef>
            </a:pPr>
          </a:p>
          <a:p>
            <a:pPr algn="l">
              <a:lnSpc>
                <a:spcPts val="3628"/>
              </a:lnSpc>
              <a:spcBef>
                <a:spcPct val="0"/>
              </a:spcBef>
            </a:pPr>
            <a:r>
              <a:rPr lang="en-US" sz="3023">
                <a:solidFill>
                  <a:srgbClr val="FFFFFF"/>
                </a:solidFill>
                <a:latin typeface="HK Grotesk"/>
                <a:ea typeface="HK Grotesk"/>
                <a:cs typeface="HK Grotesk"/>
                <a:sym typeface="HK Grotesk"/>
              </a:rPr>
              <a:t>6. Reduce Wi-Fi Range</a:t>
            </a:r>
          </a:p>
          <a:p>
            <a:pPr algn="l">
              <a:lnSpc>
                <a:spcPts val="3628"/>
              </a:lnSpc>
              <a:spcBef>
                <a:spcPct val="0"/>
              </a:spcBef>
            </a:pPr>
          </a:p>
          <a:p>
            <a:pPr algn="l">
              <a:lnSpc>
                <a:spcPts val="3628"/>
              </a:lnSpc>
              <a:spcBef>
                <a:spcPct val="0"/>
              </a:spcBef>
            </a:pPr>
            <a:r>
              <a:rPr lang="en-US" sz="3023">
                <a:solidFill>
                  <a:srgbClr val="FFFFFF"/>
                </a:solidFill>
                <a:latin typeface="HK Grotesk"/>
                <a:ea typeface="HK Grotesk"/>
                <a:cs typeface="HK Grotesk"/>
                <a:sym typeface="HK Grotesk"/>
              </a:rPr>
              <a:t>Purpose: Limit the physical range of your wireless signal to prevent unauthorized access from outside your premises.</a:t>
            </a:r>
          </a:p>
          <a:p>
            <a:pPr algn="l">
              <a:lnSpc>
                <a:spcPts val="3628"/>
              </a:lnSpc>
              <a:spcBef>
                <a:spcPct val="0"/>
              </a:spcBef>
            </a:pPr>
            <a:r>
              <a:rPr lang="en-US" sz="3023">
                <a:solidFill>
                  <a:srgbClr val="FFFFFF"/>
                </a:solidFill>
                <a:latin typeface="HK Grotesk"/>
                <a:ea typeface="HK Grotesk"/>
                <a:cs typeface="HK Grotesk"/>
                <a:sym typeface="HK Grotesk"/>
              </a:rPr>
              <a:t>How to Adjust: Decrease the transmission power in your router’s advanced wireless settings.</a:t>
            </a:r>
          </a:p>
          <a:p>
            <a:pPr algn="l">
              <a:lnSpc>
                <a:spcPts val="3628"/>
              </a:lnSpc>
              <a:spcBef>
                <a:spcPct val="0"/>
              </a:spcBef>
            </a:pPr>
          </a:p>
          <a:p>
            <a:pPr algn="l">
              <a:lnSpc>
                <a:spcPts val="362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366A7"/>
        </a:solidFill>
      </p:bgPr>
    </p:bg>
    <p:spTree>
      <p:nvGrpSpPr>
        <p:cNvPr id="1" name=""/>
        <p:cNvGrpSpPr/>
        <p:nvPr/>
      </p:nvGrpSpPr>
      <p:grpSpPr>
        <a:xfrm>
          <a:off x="0" y="0"/>
          <a:ext cx="0" cy="0"/>
          <a:chOff x="0" y="0"/>
          <a:chExt cx="0" cy="0"/>
        </a:xfrm>
      </p:grpSpPr>
      <p:sp>
        <p:nvSpPr>
          <p:cNvPr name="Freeform 2" id="2"/>
          <p:cNvSpPr/>
          <p:nvPr/>
        </p:nvSpPr>
        <p:spPr>
          <a:xfrm flipH="false" flipV="false" rot="0">
            <a:off x="13197971" y="2216604"/>
            <a:ext cx="4432195" cy="4678901"/>
          </a:xfrm>
          <a:custGeom>
            <a:avLst/>
            <a:gdLst/>
            <a:ahLst/>
            <a:cxnLst/>
            <a:rect r="r" b="b" t="t" l="l"/>
            <a:pathLst>
              <a:path h="4678901" w="4432195">
                <a:moveTo>
                  <a:pt x="0" y="0"/>
                </a:moveTo>
                <a:lnTo>
                  <a:pt x="4432195" y="0"/>
                </a:lnTo>
                <a:lnTo>
                  <a:pt x="4432195" y="4678901"/>
                </a:lnTo>
                <a:lnTo>
                  <a:pt x="0" y="46789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8689" y="159204"/>
            <a:ext cx="14702879" cy="2057400"/>
          </a:xfrm>
          <a:prstGeom prst="rect">
            <a:avLst/>
          </a:prstGeom>
        </p:spPr>
        <p:txBody>
          <a:bodyPr anchor="t" rtlCol="false" tIns="0" lIns="0" bIns="0" rIns="0">
            <a:spAutoFit/>
          </a:bodyPr>
          <a:lstStyle/>
          <a:p>
            <a:pPr algn="l">
              <a:lnSpc>
                <a:spcPts val="4099"/>
              </a:lnSpc>
              <a:spcBef>
                <a:spcPct val="0"/>
              </a:spcBef>
            </a:pPr>
            <a:r>
              <a:rPr lang="en-US" sz="3416">
                <a:solidFill>
                  <a:srgbClr val="FFFFFF"/>
                </a:solidFill>
                <a:latin typeface="HK Grotesk"/>
                <a:ea typeface="HK Grotesk"/>
                <a:cs typeface="HK Grotesk"/>
                <a:sym typeface="HK Grotesk"/>
              </a:rPr>
              <a:t>8. Use a Strong Admin Password</a:t>
            </a:r>
          </a:p>
          <a:p>
            <a:pPr algn="l">
              <a:lnSpc>
                <a:spcPts val="4099"/>
              </a:lnSpc>
              <a:spcBef>
                <a:spcPct val="0"/>
              </a:spcBef>
            </a:pPr>
          </a:p>
          <a:p>
            <a:pPr algn="l">
              <a:lnSpc>
                <a:spcPts val="4099"/>
              </a:lnSpc>
              <a:spcBef>
                <a:spcPct val="0"/>
              </a:spcBef>
            </a:pPr>
            <a:r>
              <a:rPr lang="en-US" sz="3416">
                <a:solidFill>
                  <a:srgbClr val="FFFFFF"/>
                </a:solidFill>
                <a:latin typeface="HK Grotesk"/>
                <a:ea typeface="HK Grotesk"/>
                <a:cs typeface="HK Grotesk"/>
                <a:sym typeface="HK Grotesk"/>
              </a:rPr>
              <a:t>Why: Prevent unauthorized access to your router’s configuration settings.</a:t>
            </a:r>
          </a:p>
          <a:p>
            <a:pPr algn="l">
              <a:lnSpc>
                <a:spcPts val="4099"/>
              </a:lnSpc>
              <a:spcBef>
                <a:spcPct val="0"/>
              </a:spcBef>
            </a:pPr>
            <a:r>
              <a:rPr lang="en-US" sz="3416">
                <a:solidFill>
                  <a:srgbClr val="FFFFFF"/>
                </a:solidFill>
                <a:latin typeface="HK Grotesk"/>
                <a:ea typeface="HK Grotesk"/>
                <a:cs typeface="HK Grotesk"/>
                <a:sym typeface="HK Grotesk"/>
              </a:rPr>
              <a:t>How to Set: Change the default admin password to a strong, unique password.</a:t>
            </a:r>
          </a:p>
        </p:txBody>
      </p:sp>
      <p:sp>
        <p:nvSpPr>
          <p:cNvPr name="TextBox 4" id="4"/>
          <p:cNvSpPr txBox="true"/>
          <p:nvPr/>
        </p:nvSpPr>
        <p:spPr>
          <a:xfrm rot="0">
            <a:off x="208689" y="2683566"/>
            <a:ext cx="11359441" cy="5125573"/>
          </a:xfrm>
          <a:prstGeom prst="rect">
            <a:avLst/>
          </a:prstGeom>
        </p:spPr>
        <p:txBody>
          <a:bodyPr anchor="t" rtlCol="false" tIns="0" lIns="0" bIns="0" rIns="0">
            <a:spAutoFit/>
          </a:bodyPr>
          <a:lstStyle/>
          <a:p>
            <a:pPr algn="l">
              <a:lnSpc>
                <a:spcPts val="3706"/>
              </a:lnSpc>
              <a:spcBef>
                <a:spcPct val="0"/>
              </a:spcBef>
            </a:pPr>
            <a:r>
              <a:rPr lang="en-US" sz="3089">
                <a:solidFill>
                  <a:srgbClr val="FFFFFF"/>
                </a:solidFill>
                <a:latin typeface="HK Grotesk"/>
                <a:ea typeface="HK Grotesk"/>
                <a:cs typeface="HK Grotesk"/>
                <a:sym typeface="HK Grotesk"/>
              </a:rPr>
              <a:t>SSID: MySecureNetwork</a:t>
            </a:r>
          </a:p>
          <a:p>
            <a:pPr algn="l">
              <a:lnSpc>
                <a:spcPts val="3706"/>
              </a:lnSpc>
              <a:spcBef>
                <a:spcPct val="0"/>
              </a:spcBef>
            </a:pPr>
            <a:r>
              <a:rPr lang="en-US" sz="3089">
                <a:solidFill>
                  <a:srgbClr val="FFFFFF"/>
                </a:solidFill>
                <a:latin typeface="HK Grotesk"/>
                <a:ea typeface="HK Grotesk"/>
                <a:cs typeface="HK Grotesk"/>
                <a:sym typeface="HK Grotesk"/>
              </a:rPr>
              <a:t>Password: aStrongP@ssw0rd!</a:t>
            </a:r>
          </a:p>
          <a:p>
            <a:pPr algn="l">
              <a:lnSpc>
                <a:spcPts val="3706"/>
              </a:lnSpc>
              <a:spcBef>
                <a:spcPct val="0"/>
              </a:spcBef>
            </a:pPr>
            <a:r>
              <a:rPr lang="en-US" sz="3089">
                <a:solidFill>
                  <a:srgbClr val="FFFFFF"/>
                </a:solidFill>
                <a:latin typeface="HK Grotesk"/>
                <a:ea typeface="HK Grotesk"/>
                <a:cs typeface="HK Grotesk"/>
                <a:sym typeface="HK Grotesk"/>
              </a:rPr>
              <a:t>Security Mode: WPA3-Personal</a:t>
            </a:r>
          </a:p>
          <a:p>
            <a:pPr algn="l">
              <a:lnSpc>
                <a:spcPts val="3706"/>
              </a:lnSpc>
              <a:spcBef>
                <a:spcPct val="0"/>
              </a:spcBef>
            </a:pPr>
            <a:r>
              <a:rPr lang="en-US" sz="3089">
                <a:solidFill>
                  <a:srgbClr val="FFFFFF"/>
                </a:solidFill>
                <a:latin typeface="HK Grotesk"/>
                <a:ea typeface="HK Grotesk"/>
                <a:cs typeface="HK Grotesk"/>
                <a:sym typeface="HK Grotesk"/>
              </a:rPr>
              <a:t>WPS: Disabled</a:t>
            </a:r>
          </a:p>
          <a:p>
            <a:pPr algn="l">
              <a:lnSpc>
                <a:spcPts val="3706"/>
              </a:lnSpc>
              <a:spcBef>
                <a:spcPct val="0"/>
              </a:spcBef>
            </a:pPr>
            <a:r>
              <a:rPr lang="en-US" sz="3089">
                <a:solidFill>
                  <a:srgbClr val="FFFFFF"/>
                </a:solidFill>
                <a:latin typeface="HK Grotesk"/>
                <a:ea typeface="HK Grotesk"/>
                <a:cs typeface="HK Grotesk"/>
                <a:sym typeface="HK Grotesk"/>
              </a:rPr>
              <a:t>Guest Network: Enabled</a:t>
            </a:r>
          </a:p>
          <a:p>
            <a:pPr algn="l">
              <a:lnSpc>
                <a:spcPts val="3706"/>
              </a:lnSpc>
              <a:spcBef>
                <a:spcPct val="0"/>
              </a:spcBef>
            </a:pPr>
            <a:r>
              <a:rPr lang="en-US" sz="3089">
                <a:solidFill>
                  <a:srgbClr val="FFFFFF"/>
                </a:solidFill>
                <a:latin typeface="HK Grotesk"/>
                <a:ea typeface="HK Grotesk"/>
                <a:cs typeface="HK Grotesk"/>
                <a:sym typeface="HK Grotesk"/>
              </a:rPr>
              <a:t>Guest SSID: GuestNetwork</a:t>
            </a:r>
          </a:p>
          <a:p>
            <a:pPr algn="l">
              <a:lnSpc>
                <a:spcPts val="3706"/>
              </a:lnSpc>
              <a:spcBef>
                <a:spcPct val="0"/>
              </a:spcBef>
            </a:pPr>
            <a:r>
              <a:rPr lang="en-US" sz="3089">
                <a:solidFill>
                  <a:srgbClr val="FFFFFF"/>
                </a:solidFill>
                <a:latin typeface="HK Grotesk"/>
                <a:ea typeface="HK Grotesk"/>
                <a:cs typeface="HK Grotesk"/>
                <a:sym typeface="HK Grotesk"/>
              </a:rPr>
              <a:t>Guest Password: guestP@ssw0rd!</a:t>
            </a:r>
          </a:p>
          <a:p>
            <a:pPr algn="l">
              <a:lnSpc>
                <a:spcPts val="3706"/>
              </a:lnSpc>
              <a:spcBef>
                <a:spcPct val="0"/>
              </a:spcBef>
            </a:pPr>
            <a:r>
              <a:rPr lang="en-US" sz="3089">
                <a:solidFill>
                  <a:srgbClr val="FFFFFF"/>
                </a:solidFill>
                <a:latin typeface="HK Grotesk"/>
                <a:ea typeface="HK Grotesk"/>
                <a:cs typeface="HK Grotesk"/>
                <a:sym typeface="HK Grotesk"/>
              </a:rPr>
              <a:t>MAC Filtering: Enabled</a:t>
            </a:r>
          </a:p>
          <a:p>
            <a:pPr algn="l">
              <a:lnSpc>
                <a:spcPts val="3706"/>
              </a:lnSpc>
              <a:spcBef>
                <a:spcPct val="0"/>
              </a:spcBef>
            </a:pPr>
            <a:r>
              <a:rPr lang="en-US" sz="3089">
                <a:solidFill>
                  <a:srgbClr val="FFFFFF"/>
                </a:solidFill>
                <a:latin typeface="HK Grotesk"/>
                <a:ea typeface="HK Grotesk"/>
                <a:cs typeface="HK Grotesk"/>
                <a:sym typeface="HK Grotesk"/>
              </a:rPr>
              <a:t>Allowed MAC Addresses: 00:1A:2B:3C:4D:5E, 11:22:33:44:55:66</a:t>
            </a:r>
          </a:p>
          <a:p>
            <a:pPr algn="l">
              <a:lnSpc>
                <a:spcPts val="3706"/>
              </a:lnSpc>
              <a:spcBef>
                <a:spcPct val="0"/>
              </a:spcBef>
            </a:pPr>
            <a:r>
              <a:rPr lang="en-US" sz="3089">
                <a:solidFill>
                  <a:srgbClr val="FFFFFF"/>
                </a:solidFill>
                <a:latin typeface="HK Grotesk"/>
                <a:ea typeface="HK Grotesk"/>
                <a:cs typeface="HK Grotesk"/>
                <a:sym typeface="HK Grotesk"/>
              </a:rPr>
              <a:t>Transmission Power: 50%</a:t>
            </a:r>
          </a:p>
          <a:p>
            <a:pPr algn="l">
              <a:lnSpc>
                <a:spcPts val="3706"/>
              </a:lnSpc>
              <a:spcBef>
                <a:spcPct val="0"/>
              </a:spcBef>
            </a:pPr>
            <a:r>
              <a:rPr lang="en-US" sz="3089">
                <a:solidFill>
                  <a:srgbClr val="FFFFFF"/>
                </a:solidFill>
                <a:latin typeface="HK Grotesk"/>
                <a:ea typeface="HK Grotesk"/>
                <a:cs typeface="HK Grotesk"/>
                <a:sym typeface="HK Grotesk"/>
              </a:rPr>
              <a:t>Admin Password: @dm1n$tr0ngP@ss</a:t>
            </a:r>
          </a:p>
        </p:txBody>
      </p:sp>
      <p:sp>
        <p:nvSpPr>
          <p:cNvPr name="TextBox 5" id="5"/>
          <p:cNvSpPr txBox="true"/>
          <p:nvPr/>
        </p:nvSpPr>
        <p:spPr>
          <a:xfrm rot="0">
            <a:off x="208689" y="8752908"/>
            <a:ext cx="15134859" cy="1362642"/>
          </a:xfrm>
          <a:prstGeom prst="rect">
            <a:avLst/>
          </a:prstGeom>
        </p:spPr>
        <p:txBody>
          <a:bodyPr anchor="t" rtlCol="false" tIns="0" lIns="0" bIns="0" rIns="0">
            <a:spAutoFit/>
          </a:bodyPr>
          <a:lstStyle/>
          <a:p>
            <a:pPr algn="l">
              <a:lnSpc>
                <a:spcPts val="3594"/>
              </a:lnSpc>
              <a:spcBef>
                <a:spcPct val="0"/>
              </a:spcBef>
            </a:pPr>
            <a:r>
              <a:rPr lang="en-US" sz="2995">
                <a:solidFill>
                  <a:srgbClr val="FFFFFF"/>
                </a:solidFill>
                <a:latin typeface="HK Grotesk Bold"/>
                <a:ea typeface="HK Grotesk Bold"/>
                <a:cs typeface="HK Grotesk Bold"/>
                <a:sym typeface="HK Grotesk Bold"/>
              </a:rPr>
              <a:t>By implementing these wireless security settings, you can significantly enhance the security of your network, making it more resilient against unauthorized access and cyber threats.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DAGLwtYc5m0</dc:identifier>
  <dcterms:modified xsi:type="dcterms:W3CDTF">2011-08-01T06:04:30Z</dcterms:modified>
  <cp:revision>1</cp:revision>
  <dc:title>Packet Sniffing.pptx</dc:title>
</cp:coreProperties>
</file>